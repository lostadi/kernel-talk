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kernel-talk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8B86D"/>
                </a:solidFill>
              </a:rPr>
              <a:t>A Digital Twin for the Linux Kernel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8686800" cy="1234440"/>
          </a:xfrm>
          <a:prstGeom prst="rect">
            <a:avLst/>
          </a:prstGeom>
          <a:solidFill>
            <a:srgbClr val="223852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8321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"Vector search tells you what code looks like what you asked about.
Graph traversal tells you what it depends on.
drgn tells you what is actually happening right now."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9AA"/>
                </a:solidFill>
              </a:rPr>
              <a:t>Lee Ostadi  ·  Graduate Researcher, ML &amp; Neural Networks  ·  April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kernel-talk  ·  Lee Ostadi  ·  April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DD"/>
                </a:solidFill>
              </a:rPr>
              <a:t>Why is kernel development so hard to reason about?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338560" cy="877824"/>
          </a:xfrm>
          <a:prstGeom prst="rect">
            <a:avLst/>
          </a:prstGeom>
          <a:solidFill>
            <a:srgbClr val="F0F4FA"/>
          </a:solidFill>
          <a:ln w="6350">
            <a:solidFill>
              <a:srgbClr val="1F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7101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5A80"/>
                </a:solidFill>
              </a:rPr>
              <a:t>5M+ lines of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271016"/>
            <a:ext cx="749807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The Linux kernel is the largest single-author-style C codebase; no IDE fully understands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21992"/>
            <a:ext cx="113385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1F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585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5A80"/>
                </a:solidFill>
              </a:rPr>
              <a:t>Four representations of the same artefact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258568"/>
            <a:ext cx="749807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Source (C AST)  •  Binary (DWARF)  •  Live symbols (/proc/kallsyms)  •  Live memory (drgn)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09544"/>
            <a:ext cx="11338560" cy="877824"/>
          </a:xfrm>
          <a:prstGeom prst="rect">
            <a:avLst/>
          </a:prstGeom>
          <a:solidFill>
            <a:srgbClr val="F0F4FA"/>
          </a:solidFill>
          <a:ln w="6350">
            <a:solidFill>
              <a:srgbClr val="1F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5A80"/>
                </a:solidFill>
              </a:rPr>
              <a:t>Existing tools answer only one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246120"/>
            <a:ext cx="749807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grep/cscope = source only.  addr2line = binary only.  crash/gdb = runtime only.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97096"/>
            <a:ext cx="113385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1F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336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5A80"/>
                </a:solidFill>
              </a:rPr>
              <a:t>The real question spans all four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233672"/>
            <a:ext cx="749807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"Why is this struct field corrupted at runtime, and which commit introduced it?"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84648"/>
            <a:ext cx="11338560" cy="877824"/>
          </a:xfrm>
          <a:prstGeom prst="rect">
            <a:avLst/>
          </a:prstGeom>
          <a:solidFill>
            <a:srgbClr val="F0F4FA"/>
          </a:solidFill>
          <a:ln w="6350">
            <a:solidFill>
              <a:srgbClr val="1F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22122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5A80"/>
                </a:solidFill>
              </a:rPr>
              <a:t>kernel-talk's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221224"/>
            <a:ext cx="749807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Fuse all four layers in a unified Graph-RAG pipeline with a domain-adapted bi-encoder.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kernel-talk  ·  Lee Ostadi  ·  April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DD"/>
                </a:solidFill>
              </a:rPr>
              <a:t>Five-layer Digital Twin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64592" cy="749808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338560" cy="749808"/>
          </a:xfrm>
          <a:prstGeom prst="rect">
            <a:avLst/>
          </a:prstGeom>
          <a:solidFill>
            <a:srgbClr val="F8F8F8"/>
          </a:solidFill>
          <a:ln w="1524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2529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3C"/>
                </a:solidFill>
              </a:rPr>
              <a:t>Layer 1 — Source Code (C AST)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91056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KernelParser (tree-sitter)  →  CodeNode  →  KernelGraph + ChromaDB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31136"/>
            <a:ext cx="164592" cy="749808"/>
          </a:xfrm>
          <a:prstGeom prst="rect">
            <a:avLst/>
          </a:prstGeom>
          <a:solidFill>
            <a:srgbClr val="1F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31136"/>
            <a:ext cx="11338560" cy="749808"/>
          </a:xfrm>
          <a:prstGeom prst="rect">
            <a:avLst/>
          </a:prstGeom>
          <a:solidFill>
            <a:srgbClr val="F8F8F8"/>
          </a:solidFill>
          <a:ln w="15240">
            <a:solidFill>
              <a:srgbClr val="1F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677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FA6"/>
                </a:solidFill>
              </a:rPr>
              <a:t>Layer 2 — Compiled Binary (DWARF)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3347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DwarfBridge (pyelftools)  →  BinarySymbol, StructLayout, addr2line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73552"/>
            <a:ext cx="164592" cy="74980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273552"/>
            <a:ext cx="11338560" cy="749808"/>
          </a:xfrm>
          <a:prstGeom prst="rect">
            <a:avLst/>
          </a:prstGeom>
          <a:solidFill>
            <a:srgbClr val="F8F8F8"/>
          </a:solidFill>
          <a:ln w="1524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101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2D8B"/>
                </a:solidFill>
              </a:rPr>
              <a:t>Layer 3 — Live Symbol Table (/proc/kallsyms)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6758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KallsymsBridge  →  KASLR slide computation  →  live_addr per function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315968"/>
            <a:ext cx="164592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315968"/>
            <a:ext cx="11338560" cy="749808"/>
          </a:xfrm>
          <a:prstGeom prst="rect">
            <a:avLst/>
          </a:prstGeom>
          <a:solidFill>
            <a:srgbClr val="F8F8F8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3525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Layer 4 — Live Memory (/proc/kcore via drgn)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71830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DrgnBridge  →  LiveSnapshot (struct field values without halting execution)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358383"/>
            <a:ext cx="164592" cy="749808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358383"/>
            <a:ext cx="11338560" cy="749808"/>
          </a:xfrm>
          <a:prstGeom prst="rect">
            <a:avLst/>
          </a:prstGeom>
          <a:solidFill>
            <a:srgbClr val="F8F8F8"/>
          </a:solidFill>
          <a:ln w="15240"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39495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5A80"/>
                </a:solidFill>
              </a:rPr>
              <a:t>Training — Domain-Adapted Bi-Encoder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607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synth.py  →  BM25 enrichment  →  TripletDataset + curriculum  →  distilbert fine-tune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kernel-talk  ·  Lee Ostadi  ·  April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Mirror Index — Live Build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DD"/>
                </a:solidFill>
              </a:rPr>
              <a:t>ktalk index  ·  net/ + include/linux/  ·  April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D5A80"/>
                </a:solidFill>
              </a:rPr>
              <a:t>Node Breakdown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600200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27048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Node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508760"/>
            <a:ext cx="1600200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527048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1508760"/>
            <a:ext cx="1600200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527048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28800"/>
            <a:ext cx="160020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1856231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Function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1828800"/>
            <a:ext cx="160020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21408" y="1856231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2,718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40" y="1828800"/>
            <a:ext cx="160020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13048" y="1856231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47.2%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12848"/>
            <a:ext cx="16002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2240279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Macro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2212848"/>
            <a:ext cx="16002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21408" y="2240279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2,588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2212848"/>
            <a:ext cx="16002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3048" y="2240279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45.0%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596896"/>
            <a:ext cx="160020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2624327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Struct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7400" y="2596896"/>
            <a:ext cx="160020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21408" y="2624327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281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40" y="2596896"/>
            <a:ext cx="160020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13048" y="2624327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4.9%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980944"/>
            <a:ext cx="16002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" y="3008376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Enum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7400" y="2980944"/>
            <a:ext cx="16002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21408" y="3008376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88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40" y="2980944"/>
            <a:ext cx="16002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13048" y="3008376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1.5%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364991"/>
            <a:ext cx="160020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" y="3392424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File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3364991"/>
            <a:ext cx="160020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21408" y="3392424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77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40" y="3364991"/>
            <a:ext cx="160020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13048" y="3392424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1.3%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749039"/>
            <a:ext cx="1600200" cy="384048"/>
          </a:xfrm>
          <a:prstGeom prst="rect">
            <a:avLst/>
          </a:prstGeom>
          <a:solidFill>
            <a:srgbClr val="E8F0FA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" y="3776472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5A80"/>
                </a:solidFill>
              </a:rPr>
              <a:t>TOTAL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3749039"/>
            <a:ext cx="1600200" cy="384048"/>
          </a:xfrm>
          <a:prstGeom prst="rect">
            <a:avLst/>
          </a:prstGeom>
          <a:solidFill>
            <a:srgbClr val="E8F0FA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21408" y="3776472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5A80"/>
                </a:solidFill>
              </a:rPr>
              <a:t>5,755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9040" y="3749039"/>
            <a:ext cx="1600200" cy="384048"/>
          </a:xfrm>
          <a:prstGeom prst="rect">
            <a:avLst/>
          </a:prstGeom>
          <a:solidFill>
            <a:srgbClr val="E8F0FA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13048" y="3776472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5A80"/>
                </a:solidFill>
              </a:rPr>
              <a:t>100%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D5A80"/>
                </a:solidFill>
              </a:rPr>
              <a:t>Edge Breakdown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1508760"/>
            <a:ext cx="1664208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1527048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Edge Type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1508760"/>
            <a:ext cx="1664208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2440" y="1527048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1508760"/>
            <a:ext cx="1664208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29800" y="1527048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1828800"/>
            <a:ext cx="1664208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73368" y="1856231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DEFINED_IN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46720" y="1828800"/>
            <a:ext cx="1664208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10728" y="1856231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5,333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784080" y="1828800"/>
            <a:ext cx="1664208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48088" y="1856231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60.3%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2212848"/>
            <a:ext cx="166420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73368" y="2240279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USES_STRUCT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46720" y="2212848"/>
            <a:ext cx="166420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10728" y="2240279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1,873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784080" y="2212848"/>
            <a:ext cx="166420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48088" y="2240279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21.2%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596896"/>
            <a:ext cx="1664208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73368" y="2624327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CALLS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46720" y="2596896"/>
            <a:ext cx="1664208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10728" y="2624327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1,392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784080" y="2596896"/>
            <a:ext cx="1664208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48088" y="2624327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15.7%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09360" y="2980944"/>
            <a:ext cx="166420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73368" y="300837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INCLUDES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46720" y="2980944"/>
            <a:ext cx="166420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10728" y="300837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245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84080" y="2980944"/>
            <a:ext cx="166420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848088" y="300837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2.8%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09360" y="3364991"/>
            <a:ext cx="1664208" cy="384048"/>
          </a:xfrm>
          <a:prstGeom prst="rect">
            <a:avLst/>
          </a:prstGeom>
          <a:solidFill>
            <a:srgbClr val="E8F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73368" y="339242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AB"/>
                </a:solidFill>
              </a:rPr>
              <a:t>TOTAL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46720" y="3364991"/>
            <a:ext cx="1664208" cy="384048"/>
          </a:xfrm>
          <a:prstGeom prst="rect">
            <a:avLst/>
          </a:prstGeom>
          <a:solidFill>
            <a:srgbClr val="E8F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110728" y="339242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AB"/>
                </a:solidFill>
              </a:rPr>
              <a:t>8,843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784080" y="3364991"/>
            <a:ext cx="1664208" cy="384048"/>
          </a:xfrm>
          <a:prstGeom prst="rect">
            <a:avLst/>
          </a:prstGeom>
          <a:solidFill>
            <a:srgbClr val="E8F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848088" y="339242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AB"/>
                </a:solidFill>
              </a:rPr>
              <a:t>100%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5029200"/>
            <a:ext cx="2560320" cy="1325880"/>
          </a:xfrm>
          <a:prstGeom prst="rect">
            <a:avLst/>
          </a:prstGeom>
          <a:solidFill>
            <a:srgbClr val="3D5A80"/>
          </a:solidFill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1480" y="50749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B86D"/>
                </a:solidFill>
              </a:rPr>
              <a:t>5,755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1480" y="5760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Total
CodeNodes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18688" y="5029200"/>
            <a:ext cx="2560320" cy="1325880"/>
          </a:xfrm>
          <a:prstGeom prst="rect">
            <a:avLst/>
          </a:prstGeom>
          <a:solidFill>
            <a:srgbClr val="3D5A80"/>
          </a:solidFill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64408" y="50749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B86D"/>
                </a:solidFill>
              </a:rPr>
              <a:t>8,843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64408" y="5760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Total
Edges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71616" y="5029200"/>
            <a:ext cx="2560320" cy="1325880"/>
          </a:xfrm>
          <a:prstGeom prst="rect">
            <a:avLst/>
          </a:prstGeom>
          <a:solidFill>
            <a:srgbClr val="3D5A80"/>
          </a:solidFill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17336" y="50749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B86D"/>
                </a:solidFill>
              </a:rPr>
              <a:t>768-dim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17336" y="5760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ChromaDB
Embeddings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24544" y="5029200"/>
            <a:ext cx="2560320" cy="1325880"/>
          </a:xfrm>
          <a:prstGeom prst="rect">
            <a:avLst/>
          </a:prstGeom>
          <a:solidFill>
            <a:srgbClr val="3D5A80"/>
          </a:solidFill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70264" y="50749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B86D"/>
                </a:solidFill>
              </a:rPr>
              <a:t>O(1)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70264" y="5760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Edge
Resolution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kernel-talk  ·  Lee Ostadi  ·  April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Training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DD"/>
                </a:solidFill>
              </a:rPr>
              <a:t>6,623 kernel-specific enriched triplets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2148840" cy="1920240"/>
          </a:xfrm>
          <a:prstGeom prst="rect">
            <a:avLst/>
          </a:prstGeom>
          <a:solidFill>
            <a:srgbClr val="1A6B3C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1a  mine.py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EEEEE"/>
                </a:solidFill>
              </a:rPr>
              <a:t>Git history mining
Commit msg → changed fns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9202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188720"/>
            <a:ext cx="2148840" cy="1920240"/>
          </a:xfrm>
          <a:prstGeom prst="rect">
            <a:avLst/>
          </a:prstGeom>
          <a:solidFill>
            <a:srgbClr val="2E86AB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26187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1b  synth.py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783080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EEEEE"/>
                </a:solidFill>
              </a:rPr>
              <a:t>Synthetic generation
From ChromaDB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188720"/>
            <a:ext cx="2148840" cy="1920240"/>
          </a:xfrm>
          <a:prstGeom prst="rect">
            <a:avLst/>
          </a:prstGeom>
          <a:solidFill>
            <a:srgbClr val="7B2D8B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26187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2  bm25.py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783080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EEEEE"/>
                </a:solidFill>
              </a:rPr>
              <a:t>Hard negative enrichment
Okapi BM25, C-aware tokeniser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9202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1188720"/>
            <a:ext cx="2148840" cy="1920240"/>
          </a:xfrm>
          <a:prstGeom prst="rect">
            <a:avLst/>
          </a:prstGeom>
          <a:solidFill>
            <a:srgbClr val="E07B39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126187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3  dataset.py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783080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EEEEE"/>
                </a:solidFill>
              </a:rPr>
              <a:t>Curriculum DataLoader
Easy-first, adaptive hard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19202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38360" y="1188720"/>
            <a:ext cx="2148840" cy="1920240"/>
          </a:xfrm>
          <a:prstGeom prst="rect">
            <a:avLst/>
          </a:prstGeom>
          <a:solidFill>
            <a:srgbClr val="3D5A80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126187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4  train_biencoder.py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1783080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EEEEE"/>
                </a:solidFill>
              </a:rPr>
              <a:t>BiEncoder fine-tuning
InfoNCE + gradient accum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337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5A80"/>
                </a:solidFill>
              </a:rPr>
              <a:t>Synthetic Triplet Strategies (Stage 1b)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03320"/>
            <a:ext cx="2103120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721608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Strategy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3703320"/>
            <a:ext cx="6400800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39" y="3721608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Query signal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3703320"/>
            <a:ext cx="1371600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37216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Triplets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0" y="3703320"/>
            <a:ext cx="1554480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61320" y="3721608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023360"/>
            <a:ext cx="210312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4050791"/>
            <a:ext cx="2011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synth_symbol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4023360"/>
            <a:ext cx="640080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24327" y="4050791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Formatted function name → implementation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2560" y="4023360"/>
            <a:ext cx="137160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16568" y="4050791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2,718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0" y="4023360"/>
            <a:ext cx="155448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79608" y="4050791"/>
            <a:ext cx="1463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41.1%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407408"/>
            <a:ext cx="21031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8" y="4434840"/>
            <a:ext cx="2011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synth_docstring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4407408"/>
            <a:ext cx="6400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24327" y="4434840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First sentence of /** block → code body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52560" y="4407408"/>
            <a:ext cx="13716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16568" y="443484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2,667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15600" y="4407408"/>
            <a:ext cx="15544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79608" y="4434840"/>
            <a:ext cx="1463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40.3%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791456"/>
            <a:ext cx="210312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9768" y="4818888"/>
            <a:ext cx="2011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synth_caller_callee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60320" y="4791456"/>
            <a:ext cx="640080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24327" y="4818888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Caller function body → callee implementation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52560" y="4791456"/>
            <a:ext cx="137160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16568" y="481888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1,237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15600" y="4791456"/>
            <a:ext cx="155448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79608" y="4818888"/>
            <a:ext cx="1463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18.7%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175504"/>
            <a:ext cx="2103120" cy="384048"/>
          </a:xfrm>
          <a:prstGeom prst="rect">
            <a:avLst/>
          </a:prstGeom>
          <a:solidFill>
            <a:srgbClr val="E8F0FA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9768" y="5202936"/>
            <a:ext cx="2011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TOTAL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0" y="5175504"/>
            <a:ext cx="6400800" cy="384048"/>
          </a:xfrm>
          <a:prstGeom prst="rect">
            <a:avLst/>
          </a:prstGeom>
          <a:solidFill>
            <a:srgbClr val="E8F0FA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24327" y="5202936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9052560" y="5175504"/>
            <a:ext cx="1371600" cy="384048"/>
          </a:xfrm>
          <a:prstGeom prst="rect">
            <a:avLst/>
          </a:prstGeom>
          <a:solidFill>
            <a:srgbClr val="E8F0FA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16568" y="520293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6,623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15600" y="5175504"/>
            <a:ext cx="1554480" cy="384048"/>
          </a:xfrm>
          <a:prstGeom prst="rect">
            <a:avLst/>
          </a:prstGeom>
          <a:solidFill>
            <a:srgbClr val="E8F0FA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79608" y="5202936"/>
            <a:ext cx="1463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100%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BM25 median hard-negative gap: 6.65  (lexically confusable negatives for contrastive learning)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kernel-talk  ·  Lee Ostadi  ·  April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Bi-Encoder Model &amp;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DD"/>
                </a:solidFill>
              </a:rPr>
              <a:t>distilbert-base-uncased fine-tuned on 6,623 kernel triplets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D5A80"/>
                </a:solidFill>
              </a:rPr>
              <a:t>Training Configuration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48640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Backbone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5270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distilbert-base-uncased  (66M params, 768-dim, 6 layers)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92807"/>
            <a:ext cx="54864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110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Optimiser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911095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AdamW  lr=2×10⁻⁵  weight_decay=0.01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76856"/>
            <a:ext cx="548640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9514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LR 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2951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Linear warmup 10%  +  cosine decay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60904"/>
            <a:ext cx="54864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79191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Batch / Grad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679191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16 per step  ×  8 accumulation  =  128 effective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44952"/>
            <a:ext cx="548640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6323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Epochs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063239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3  (retrieval saturates quickly; more → overfit)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29000"/>
            <a:ext cx="54864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472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Temperature 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4472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0.07  (SimCLR / MoCo convention)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13048"/>
            <a:ext cx="548640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83133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Code max tok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3831335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128  (4× faster attention vs 512; covers fn signatures)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97096"/>
            <a:ext cx="54864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21538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Query max tok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4215383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128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581144"/>
            <a:ext cx="548640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599431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Checkpoint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4599431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Best val Recall@10  +  per-epoch save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965192"/>
            <a:ext cx="54864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98347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Hardware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4983479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Intel Core Ultra 7 164U  ·  14 cores  ·  OMP_NUM_THREADS=14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D5A80"/>
                </a:solidFill>
              </a:rPr>
              <a:t>InfoNCE Loss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1508760"/>
            <a:ext cx="5394960" cy="1645920"/>
          </a:xfrm>
          <a:prstGeom prst="rect">
            <a:avLst/>
          </a:prstGeom>
          <a:solidFill>
            <a:srgbClr val="F7F7F7"/>
          </a:solidFill>
          <a:ln w="12700">
            <a:solidFill>
              <a:srgbClr val="1F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1572768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L_InfoNCE = −(1/B) Σᵢ log [
  exp(sim(qᵢ, cᵢ⁺) / τ)
  ────────────────────────
  Σⱼ exp(sim(qᵢ, cⱼ) / τ)
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337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5A80"/>
                </a:solidFill>
              </a:rPr>
              <a:t>Curriculum Formula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703320"/>
            <a:ext cx="5394960" cy="1005840"/>
          </a:xfrm>
          <a:prstGeom prst="rect">
            <a:avLst/>
          </a:prstGeom>
          <a:solidFill>
            <a:srgbClr val="F7F7F7"/>
          </a:solidFill>
          <a:ln w="1270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376732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effective_ratio(p, d) = r_hard · [p + (1−p)(1−d)]
p = curriculum progress  ·  d = example difficulty
d=0 (easy) → full ratio always
d=1 (hard) → zero at epoch 0, full at final epoch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5A80"/>
                </a:solidFill>
              </a:rPr>
              <a:t>Training Status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5257800"/>
            <a:ext cx="5394960" cy="1188720"/>
          </a:xfrm>
          <a:prstGeom prst="rect">
            <a:avLst/>
          </a:prstGeom>
          <a:solidFill>
            <a:srgbClr val="E8F4E8"/>
          </a:solidFill>
          <a:ln w="1524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5321808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✓  66,362,880 trainable parameters loaded
✓  6,292 train  +  331 val samples
✓  3 epochs  ·  147 gradient steps  ·  Running NOW
   Val Recall@10 → reported post-training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kernel-talk  ·  Lee Ostadi  ·  April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Retrieval &amp; Synthesis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DD"/>
                </a:solidFill>
              </a:rPr>
              <a:t>Dual-stage: hybrid vector+graph retrieval → LLM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920240"/>
            <a:ext cx="1600200" cy="1188720"/>
          </a:xfrm>
          <a:prstGeom prst="rect">
            <a:avLst/>
          </a:prstGeom>
          <a:solidFill>
            <a:srgbClr val="3D5A80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93392"/>
            <a:ext cx="150876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User Query
(natural language)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331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920240"/>
            <a:ext cx="1600200" cy="1188720"/>
          </a:xfrm>
          <a:prstGeom prst="rect">
            <a:avLst/>
          </a:prstGeom>
          <a:solidFill>
            <a:srgbClr val="1F5FA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993392"/>
            <a:ext cx="150876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CodeEmbedder
embed_query()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331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920240"/>
            <a:ext cx="1600200" cy="1188720"/>
          </a:xfrm>
          <a:prstGeom prst="rect">
            <a:avLst/>
          </a:prstGeom>
          <a:solidFill>
            <a:srgbClr val="7B2D8B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93392"/>
            <a:ext cx="150876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ChromaDB
vector_search()
top-k cosine hits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331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20240"/>
            <a:ext cx="1600200" cy="1188720"/>
          </a:xfrm>
          <a:prstGeom prst="rect">
            <a:avLst/>
          </a:prstGeom>
          <a:solidFill>
            <a:srgbClr val="1A6B3C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993392"/>
            <a:ext cx="150876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KernelGraph
neighborhood()
BFS h hops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331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920240"/>
            <a:ext cx="1600200" cy="1188720"/>
          </a:xfrm>
          <a:prstGeom prst="rect">
            <a:avLst/>
          </a:prstGeom>
          <a:solidFill>
            <a:srgbClr val="2E86AB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993392"/>
            <a:ext cx="150876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HybridResult
primary +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331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1920240"/>
            <a:ext cx="1600200" cy="1188720"/>
          </a:xfrm>
          <a:prstGeom prst="rect">
            <a:avLst/>
          </a:prstGeom>
          <a:solidFill>
            <a:srgbClr val="E07B39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1993392"/>
            <a:ext cx="150876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KernelSynthesizer
build_prompt()
[THEORY][REALITY][Q]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429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5A80"/>
                </a:solidFill>
              </a:rPr>
              <a:t>LLM Backends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76472"/>
            <a:ext cx="2103120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794760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Provider string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3776472"/>
            <a:ext cx="3017520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39" y="3794760"/>
            <a:ext cx="2926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776472"/>
            <a:ext cx="2651760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37947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3776472"/>
            <a:ext cx="3383280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37947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Default 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096512"/>
            <a:ext cx="210312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4123944"/>
            <a:ext cx="2011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ollama:...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4096512"/>
            <a:ext cx="301752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24327" y="4123944"/>
            <a:ext cx="29260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Local Ollama / HTTP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4096512"/>
            <a:ext cx="265176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33288" y="41239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None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4096512"/>
            <a:ext cx="338328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76488" y="412394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deepseek-coder:6.7b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480560"/>
            <a:ext cx="21031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" y="4507992"/>
            <a:ext cx="2011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openai:...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4480560"/>
            <a:ext cx="30175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24327" y="4507992"/>
            <a:ext cx="29260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OpenAI / vLLM / LM Studio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0" y="4480560"/>
            <a:ext cx="26517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33288" y="45079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OPENAI_API_KEY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4480560"/>
            <a:ext cx="3383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76488" y="450799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gpt-4o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864608"/>
            <a:ext cx="210312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8" y="4892040"/>
            <a:ext cx="2011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anthropic:...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60320" y="4864608"/>
            <a:ext cx="301752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24327" y="4892040"/>
            <a:ext cx="29260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Anthropic Claude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4864608"/>
            <a:ext cx="265176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33288" y="489204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ANTHROPIC_API_KEY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4864608"/>
            <a:ext cx="3383280" cy="384048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76488" y="489204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claude-sonnet-4-6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5349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5A80"/>
                </a:solidFill>
              </a:rPr>
              <a:t>Prompt Architecture (token-budget-aware):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715000"/>
            <a:ext cx="2651760" cy="594360"/>
          </a:xfrm>
          <a:prstGeom prst="rect">
            <a:avLst/>
          </a:prstGeom>
          <a:solidFill>
            <a:srgbClr val="444444"/>
          </a:solidFill>
          <a:ln w="508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57424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[SYSTEM]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5998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Kernel expert role. Cite file:function.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90672" y="5715000"/>
            <a:ext cx="2651760" cy="594360"/>
          </a:xfrm>
          <a:prstGeom prst="rect">
            <a:avLst/>
          </a:prstGeom>
          <a:solidFill>
            <a:srgbClr val="1A6B3C"/>
          </a:solidFill>
          <a:ln w="508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36391" y="57424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[THEORY]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36391" y="5998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Up to 75% budget: CodeNode blocks (file, lines, docstring, code)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15583" y="5715000"/>
            <a:ext cx="2651760" cy="594360"/>
          </a:xfrm>
          <a:prstGeom prst="rect">
            <a:avLst/>
          </a:prstGeom>
          <a:solidFill>
            <a:srgbClr val="E07B39"/>
          </a:solidFill>
          <a:ln w="508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61303" y="57424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[REALITY]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61303" y="5998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Up to 25% budget: LiveSnapshot field values from drgn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40496" y="5715000"/>
            <a:ext cx="2651760" cy="594360"/>
          </a:xfrm>
          <a:prstGeom prst="rect">
            <a:avLst/>
          </a:prstGeom>
          <a:solidFill>
            <a:srgbClr val="1F5FA6"/>
          </a:solidFill>
          <a:ln w="508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86216" y="57424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[QUESTION]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86216" y="5998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User query + cite sources + flag theory/reality mismatches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kernel-talk  ·  Lee Ostadi  ·  April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Native Rust CLI Binary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DD"/>
                </a:solidFill>
              </a:rPr>
              <a:t>rust_ext/ktalk_cli/  ·  clap v4  ·  cargo build --release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5A80"/>
                </a:solidFill>
              </a:rPr>
              <a:t>Two execution modes: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94960" cy="3383280"/>
          </a:xfrm>
          <a:prstGeom prst="rect">
            <a:avLst/>
          </a:prstGeom>
          <a:solidFill>
            <a:srgbClr val="F7F7F7"/>
          </a:solidFill>
          <a:ln w="1905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3C"/>
                </a:solidFill>
              </a:rPr>
              <a:t>🟢  Native (zero Python startup)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5120640" cy="594360"/>
          </a:xfrm>
          <a:prstGeom prst="rect">
            <a:avLst/>
          </a:prstGeom>
          <a:solidFill>
            <a:srgbClr val="E8F4E8"/>
          </a:solidFill>
          <a:ln w="381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5681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ktalk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3113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Semver + build hash, instant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5120640" cy="594360"/>
          </a:xfrm>
          <a:prstGeom prst="rect">
            <a:avLst/>
          </a:prstGeom>
          <a:solidFill>
            <a:srgbClr val="E8F4E8"/>
          </a:solidFill>
          <a:ln w="381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151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ktalk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8950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Store item count, graph nodes/edges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36976"/>
            <a:ext cx="5120640" cy="594360"/>
          </a:xfrm>
          <a:prstGeom prst="rect">
            <a:avLst/>
          </a:prstGeom>
          <a:solidFill>
            <a:srgbClr val="E8F4E8"/>
          </a:solidFill>
          <a:ln w="381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73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ktalk env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478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Hardware, Python version, training state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95344"/>
            <a:ext cx="5120640" cy="594360"/>
          </a:xfrm>
          <a:prstGeom prst="rect">
            <a:avLst/>
          </a:prstGeom>
          <a:solidFill>
            <a:srgbClr val="E8F4E8"/>
          </a:solidFill>
          <a:ln w="381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31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ktalk completions bash/zsh/fish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062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Shell completions via clap_complete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508760"/>
            <a:ext cx="5486400" cy="3383280"/>
          </a:xfrm>
          <a:prstGeom prst="rect">
            <a:avLst/>
          </a:prstGeom>
          <a:solidFill>
            <a:srgbClr val="F7F7F7"/>
          </a:solidFill>
          <a:ln w="19050">
            <a:solidFill>
              <a:srgbClr val="1F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5361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FA6"/>
                </a:solidFill>
              </a:rPr>
              <a:t>🔵  Subprocess delegation (→ Python)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1920240"/>
            <a:ext cx="5212080" cy="594360"/>
          </a:xfrm>
          <a:prstGeom prst="rect">
            <a:avLst/>
          </a:prstGeom>
          <a:solidFill>
            <a:srgbClr val="E8ECF8"/>
          </a:solidFill>
          <a:ln w="3810">
            <a:solidFill>
              <a:srgbClr val="1F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9568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ktalk 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2311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Parse + embed kernel source tree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2578608"/>
            <a:ext cx="5212080" cy="594360"/>
          </a:xfrm>
          <a:prstGeom prst="rect">
            <a:avLst/>
          </a:prstGeom>
          <a:solidFill>
            <a:srgbClr val="E8ECF8"/>
          </a:solidFill>
          <a:ln w="3810">
            <a:solidFill>
              <a:srgbClr val="1F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6151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ktalk 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8895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Hybrid retrieval + LLM synthesis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236976"/>
            <a:ext cx="5212080" cy="594360"/>
          </a:xfrm>
          <a:prstGeom prst="rect">
            <a:avLst/>
          </a:prstGeom>
          <a:solidFill>
            <a:srgbClr val="E8ECF8"/>
          </a:solidFill>
          <a:ln w="3810">
            <a:solidFill>
              <a:srgbClr val="1F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273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ktalk train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5478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Full training pipeline (synth→bm25→train)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3895344"/>
            <a:ext cx="5212080" cy="594360"/>
          </a:xfrm>
          <a:prstGeom prst="rect">
            <a:avLst/>
          </a:prstGeom>
          <a:solidFill>
            <a:srgbClr val="E8ECF8"/>
          </a:solidFill>
          <a:ln w="3810">
            <a:solidFill>
              <a:srgbClr val="1F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</a:rPr>
              <a:t>ktalk eval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206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nDCG@k, Recall@k, MRR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074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5A80"/>
                </a:solidFill>
              </a:rPr>
              <a:t>Build &amp; Install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422392"/>
            <a:ext cx="11430000" cy="1097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458968"/>
            <a:ext cx="111556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FF88"/>
                </a:solidFill>
              </a:rPr>
              <a:t>cd rust_ext/ktalk_cli &amp;&amp; cargo build --release
# or from repo root:
make ktalk-bin
sudo cp rust_ext/ktalk_cli/target/release/ktalk /usr/local/bin/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kernel-talk  ·  Lee Ostadi  ·  April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Results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DD"/>
                </a:solidFill>
              </a:rPr>
              <a:t>Live training — metrics update on completion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4572000"/>
          </a:xfrm>
          <a:prstGeom prst="rect">
            <a:avLst/>
          </a:prstGeom>
          <a:solidFill>
            <a:srgbClr val="F0F8F0"/>
          </a:solidFill>
          <a:ln w="1905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3C"/>
                </a:solidFill>
              </a:rPr>
              <a:t>✓  Achieved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2763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134/134 tests passing  (all 4 test suites)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2140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5,755 CodeNodes indexed  (functions, macros, structs, enums, files)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1518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8,843 typed graph edges  (CALLS, USES_STRUCT, DEFINED_IN, INCLUDES)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0896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6,623 enriched training triplets  (3 synthetic strategies + BM25 hard negatives)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60273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Curriculum-aware bi-encoder training  (InfoNCE + adaptive hard-ratio scheduler)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09651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Native Rust ktalk binary  (version / status / env without Python)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59028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C-aware BM25 tokeniser  (underscore-preserving, kernel stopwords removed)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08406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Temporal train/val/test split  (no data leakage across commit dates)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143000"/>
            <a:ext cx="5486400" cy="4572000"/>
          </a:xfrm>
          <a:prstGeom prst="rect">
            <a:avLst/>
          </a:prstGeom>
          <a:solidFill>
            <a:srgbClr val="F0F4F8"/>
          </a:solidFill>
          <a:ln w="19050">
            <a:solidFill>
              <a:srgbClr val="1F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188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5FA6"/>
                </a:solidFill>
              </a:rPr>
              <a:t>→  Next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627632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Val Recall@10  post fine-tuning  (in progress)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86000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Cross-encoder reranker  (Stage 5: KernelReranker margin loss)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944368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Intel Arc XPU acceleration  (IPEX in Python 3.12 venv)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02736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Eval harness  (nDCG@k, MRR across 3 retrieval settings)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61104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Layer 2–4 integration  (DWARF twin + live drgn probing on this host)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19472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Ollama streaming  (ktalk ask → token-streamed LLM answers)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833872"/>
            <a:ext cx="11612880" cy="5486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861304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All numbers above are from the live production build  ·  Training: 66M-param DistilBERT  ·  3 epochs  ·  147 steps  ·  CPU-only (Intel Core Ultra 7 164U, 14 cores)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kernel-talk  ·  Lee Ostadi  ·  April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